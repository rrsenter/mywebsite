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Average"/>
      <p:regular r:id="rId49"/>
    </p:embeddedFont>
    <p:embeddedFont>
      <p:font typeface="Oswald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swald-bold.fntdata"/><Relationship Id="rId5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asha.org/slp/icf/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https://docs.google.com/presentation/d/1yXsfw53fknj08fLbDbGpkhYFdrDr_tw0fZId-2iz41M/edit?usp=sharing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81b5434d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81b5434d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433123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433123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81b5434d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81b5434d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81b5434d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81b5434d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81b5434d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81b5434d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81b5434d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81b5434d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1b5434d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81b5434d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81b5434d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81b5434d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1b5434d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81b5434d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81b5434d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81b5434d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81b5434d4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81b5434d4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81b5434d4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81b5434d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81b5434d4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81b5434d4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81b5434d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81b5434d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81b5434d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81b5434d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1b5434d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81b5434d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81b5434d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81b5434d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https://www.asha.org/slp/icf/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81b5434d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81b5434d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67a93da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67a93da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81b5434d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81b5434d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81b5434d4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81b5434d4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81b5434d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81b5434d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81b5434d4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81b5434d4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81b5434d4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81b5434d4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2433123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2433123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81b5434d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81b5434d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24331239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24331239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81b5434d4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81b5434d4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2433123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2433123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81b5434d4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81b5434d4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67a93dad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67a93da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67a93da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67a93da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67a93dad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67a93dad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81b5434d4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81b5434d4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81b5434d4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81b5434d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81b5434d4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81b5434d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1b5434d4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81b5434d4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81b5434d4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81b5434d4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81b5434d4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81b5434d4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81b5434d4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81b5434d4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81b5434d4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81b5434d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67a93dad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67a93dad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http://raw.githubusercontent.com/rrsenter/MyWebsite/gh-pages/FOURC_handout_Senter.pptx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http://raw.githubusercontent.com/rrsenter/MyWebsite/gh-pages/WHO ICF handout_Senter.pptx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asha.org/slp/icf/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med.unc.edu/healthsciences/sphs/card/resources/aphasia-goals/fourc-model/" TargetMode="External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mailto:Reed.Senter@desales.edu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19785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/>
              <a:t>Practical Ideas for Neurodiversity-Affirming Services</a:t>
            </a:r>
            <a:endParaRPr sz="402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132100" y="2026950"/>
            <a:ext cx="50463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Reed Senter, Ph.D. CCC-SLP, BCS-CL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426300" y="2707950"/>
            <a:ext cx="2906400" cy="230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2" name="Google Shape;62;p13"/>
          <p:cNvSpPr txBox="1"/>
          <p:nvPr>
            <p:ph idx="4294967295" type="title"/>
          </p:nvPr>
        </p:nvSpPr>
        <p:spPr>
          <a:xfrm>
            <a:off x="3651525" y="3574950"/>
            <a:ext cx="54579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these slides on Google Drive!</a:t>
            </a:r>
            <a:br>
              <a:rPr lang="en"/>
            </a:br>
            <a:r>
              <a:rPr i="1" lang="en" sz="2100"/>
              <a:t>(And “File” &gt; “Download” if you like!)</a:t>
            </a:r>
            <a:endParaRPr i="1" sz="2100"/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002" y="2919150"/>
            <a:ext cx="1985001" cy="19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Disclosures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152475"/>
            <a:ext cx="7435500" cy="37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Financial: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am a salaried, full time Assistant Professor of Speech-Language Pathology at DeSales University.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Non-financial: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am autistic.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645900" y="16685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i="1" lang="en"/>
              <a:t>are</a:t>
            </a:r>
            <a:r>
              <a:rPr lang="en"/>
              <a:t> neurodiversity-affirming services?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…And where did these principles come from?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00550" y="1404225"/>
            <a:ext cx="3504900" cy="103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“Promoting neurodiversity-affirming care for autistic children: A scoping review”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Wagland et al., 2025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963700" y="1404225"/>
            <a:ext cx="3868500" cy="103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“Defining neurodiversity affirming psychology practice for autistic adults: A Delphi study”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Flower </a:t>
            </a:r>
            <a:r>
              <a:rPr i="1" lang="en">
                <a:latin typeface="Average"/>
                <a:ea typeface="Average"/>
                <a:cs typeface="Average"/>
                <a:sym typeface="Average"/>
              </a:rPr>
              <a:t>et al., 2025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093175" y="1603425"/>
            <a:ext cx="682800" cy="6372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106075" y="3315625"/>
            <a:ext cx="1012800" cy="7737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819550" y="3184675"/>
            <a:ext cx="4659000" cy="103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“Neurodiversity-affirming practice: A work in progress”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Penrod</a:t>
            </a:r>
            <a:r>
              <a:rPr i="1" lang="en">
                <a:latin typeface="Average"/>
                <a:ea typeface="Average"/>
                <a:cs typeface="Average"/>
                <a:sym typeface="Average"/>
              </a:rPr>
              <a:t>, 2025 (The Informed SLP)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“neurodiversity-affirming principles?”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414225"/>
            <a:ext cx="407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A commitment to continued learning about autism**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Providing safety to be one’s autistic self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Finding a way to communicate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Authenticity and humility in practice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Validation of autistic experiences</a:t>
            </a:r>
            <a:endParaRPr sz="2400"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942800" y="1528000"/>
            <a:ext cx="420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6. Autistic-informed, person-centered support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7. Genuine acceptance and appreciation of autism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8. Educate non-autistic people about autism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9. Prioritize well-being over compliance</a:t>
            </a:r>
            <a:endParaRPr sz="2400"/>
          </a:p>
        </p:txBody>
      </p:sp>
      <p:sp>
        <p:nvSpPr>
          <p:cNvPr id="92" name="Google Shape;92;p17"/>
          <p:cNvSpPr/>
          <p:nvPr/>
        </p:nvSpPr>
        <p:spPr>
          <a:xfrm>
            <a:off x="2267275" y="1065575"/>
            <a:ext cx="4406400" cy="2932308"/>
          </a:xfrm>
          <a:prstGeom prst="cloud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Average"/>
                <a:ea typeface="Average"/>
                <a:cs typeface="Average"/>
                <a:sym typeface="Average"/>
              </a:rPr>
              <a:t>But how???</a:t>
            </a:r>
            <a:endParaRPr sz="36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service delivery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61350" y="1769550"/>
            <a:ext cx="3343500" cy="1604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Assessment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2721950" y="1769550"/>
            <a:ext cx="3432000" cy="1604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Treatment planning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5486900" y="1769550"/>
            <a:ext cx="3505200" cy="1604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Intervention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116150" y="3157750"/>
            <a:ext cx="2605800" cy="11151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WHO-ICF framework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the roots</a:t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175150" y="1404225"/>
            <a:ext cx="2649300" cy="1115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Neurodiversity- affirming services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3086125" y="1358625"/>
            <a:ext cx="2810700" cy="12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Are an applied extension of…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6158500" y="1404225"/>
            <a:ext cx="2649300" cy="1115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The social model of disability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the roots</a:t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175150" y="1404225"/>
            <a:ext cx="2649300" cy="1115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Neurodiversity- affirming services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3086125" y="1358625"/>
            <a:ext cx="2810700" cy="12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Are an applied extension of…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6158500" y="1404225"/>
            <a:ext cx="2649300" cy="1115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The social model of disability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8" name="Google Shape;118;p20"/>
          <p:cNvSpPr/>
          <p:nvPr/>
        </p:nvSpPr>
        <p:spPr>
          <a:xfrm flipH="1" rot="-1252060">
            <a:off x="6431985" y="2389703"/>
            <a:ext cx="2259618" cy="120619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Which is an ideology that…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2950450" y="2667350"/>
            <a:ext cx="3663300" cy="226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Challenges “deficit” perspectives of disability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Emphasizes the interaction between the individual and society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Promotes inclusive, accessible spaces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the roots</a:t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175150" y="1404225"/>
            <a:ext cx="2649300" cy="1115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Neurodiversity- affirming services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3086125" y="1358625"/>
            <a:ext cx="2810700" cy="12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Are an applied extension of…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6158500" y="1404225"/>
            <a:ext cx="2649300" cy="1115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The social model of disability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8" name="Google Shape;128;p21"/>
          <p:cNvSpPr/>
          <p:nvPr/>
        </p:nvSpPr>
        <p:spPr>
          <a:xfrm flipH="1" rot="-1252060">
            <a:off x="6431985" y="2389703"/>
            <a:ext cx="2259618" cy="120619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Which is an ideology that…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2950450" y="2667350"/>
            <a:ext cx="3663300" cy="226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Challenges “deficit” perspectives of disability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Emphasizes the interaction between the individual and society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verage"/>
              <a:buChar char="●"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Promotes inclusive, accessible spaces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127450" y="4022850"/>
            <a:ext cx="2162100" cy="95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The WHO-ICF framework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3086125" y="1358625"/>
            <a:ext cx="2810700" cy="12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Are an applied extension of…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2" name="Google Shape;132;p21"/>
          <p:cNvSpPr/>
          <p:nvPr/>
        </p:nvSpPr>
        <p:spPr>
          <a:xfrm rot="-1032620">
            <a:off x="661410" y="3027823"/>
            <a:ext cx="2618964" cy="120624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Is a clinical perspective to classify disability, </a:t>
            </a:r>
            <a:r>
              <a:rPr i="1" lang="en">
                <a:latin typeface="Average"/>
                <a:ea typeface="Average"/>
                <a:cs typeface="Average"/>
                <a:sym typeface="Average"/>
              </a:rPr>
              <a:t> that…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645900" y="871300"/>
            <a:ext cx="7852200" cy="189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Health Organization’s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International Classification of Functioning, Disability, and Health</a:t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2245950" y="3008725"/>
            <a:ext cx="465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</a:t>
            </a:r>
            <a:r>
              <a:rPr i="1" lang="en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ka, the ICF framework</a:t>
            </a:r>
            <a:endParaRPr i="1" sz="800"/>
          </a:p>
        </p:txBody>
      </p:sp>
      <p:sp>
        <p:nvSpPr>
          <p:cNvPr id="139" name="Google Shape;139;p22"/>
          <p:cNvSpPr txBox="1"/>
          <p:nvPr/>
        </p:nvSpPr>
        <p:spPr>
          <a:xfrm>
            <a:off x="2245950" y="3898750"/>
            <a:ext cx="465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aka, the blueprint to your assessment</a:t>
            </a:r>
            <a:endParaRPr i="1" sz="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663"/>
            <a:ext cx="9144000" cy="4894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663"/>
            <a:ext cx="9144000" cy="489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/>
          <p:nvPr/>
        </p:nvSpPr>
        <p:spPr>
          <a:xfrm>
            <a:off x="2500950" y="220775"/>
            <a:ext cx="4142100" cy="14565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Average"/>
                <a:ea typeface="Average"/>
                <a:cs typeface="Average"/>
                <a:sym typeface="Average"/>
              </a:rPr>
              <a:t>Clinical / Medical diagnosis</a:t>
            </a:r>
            <a:endParaRPr b="1"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Might come from SLP (e.g., DLD, stuttering), might not (e.g., autism, ADHD)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663"/>
            <a:ext cx="9144000" cy="489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/>
          <p:nvPr/>
        </p:nvSpPr>
        <p:spPr>
          <a:xfrm>
            <a:off x="99900" y="971800"/>
            <a:ext cx="2974800" cy="26514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Average"/>
                <a:ea typeface="Average"/>
                <a:cs typeface="Average"/>
                <a:sym typeface="Average"/>
              </a:rPr>
              <a:t>“Traditional” assessment data</a:t>
            </a:r>
            <a:endParaRPr b="1"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verage"/>
                <a:ea typeface="Average"/>
                <a:cs typeface="Average"/>
                <a:sym typeface="Average"/>
              </a:rPr>
              <a:t>Structure: </a:t>
            </a:r>
            <a:r>
              <a:rPr lang="en">
                <a:latin typeface="Average"/>
                <a:ea typeface="Average"/>
                <a:cs typeface="Average"/>
                <a:sym typeface="Average"/>
              </a:rPr>
              <a:t>Oral mech exam…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verage"/>
                <a:ea typeface="Average"/>
                <a:cs typeface="Average"/>
                <a:sym typeface="Average"/>
              </a:rPr>
              <a:t>Function</a:t>
            </a:r>
            <a:r>
              <a:rPr b="1" lang="en">
                <a:latin typeface="Average"/>
                <a:ea typeface="Average"/>
                <a:cs typeface="Average"/>
                <a:sym typeface="Average"/>
              </a:rPr>
              <a:t>: </a:t>
            </a:r>
            <a:r>
              <a:rPr lang="en">
                <a:latin typeface="Average"/>
                <a:ea typeface="Average"/>
                <a:cs typeface="Average"/>
                <a:sym typeface="Average"/>
              </a:rPr>
              <a:t>Standard scores, communication characteristics…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663"/>
            <a:ext cx="9144000" cy="489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/>
          <p:nvPr/>
        </p:nvSpPr>
        <p:spPr>
          <a:xfrm>
            <a:off x="4144400" y="1797900"/>
            <a:ext cx="4187700" cy="15477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Average"/>
                <a:ea typeface="Average"/>
                <a:cs typeface="Average"/>
                <a:sym typeface="Average"/>
              </a:rPr>
              <a:t>Functional, meaningful, </a:t>
            </a:r>
            <a:r>
              <a:rPr b="1" lang="en" sz="1600">
                <a:latin typeface="Average"/>
                <a:ea typeface="Average"/>
                <a:cs typeface="Average"/>
                <a:sym typeface="Average"/>
              </a:rPr>
              <a:t>assessment data</a:t>
            </a:r>
            <a:endParaRPr b="1"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Client &amp; caregiver interviews, </a:t>
            </a:r>
            <a:r>
              <a:rPr lang="en">
                <a:latin typeface="Average"/>
                <a:ea typeface="Average"/>
                <a:cs typeface="Average"/>
                <a:sym typeface="Average"/>
              </a:rPr>
              <a:t>observation, dynamic assessment, QOL/ADL checklists…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663"/>
            <a:ext cx="9144000" cy="489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/>
          <p:nvPr/>
        </p:nvSpPr>
        <p:spPr>
          <a:xfrm>
            <a:off x="252625" y="3391475"/>
            <a:ext cx="4187700" cy="15477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Average"/>
                <a:ea typeface="Average"/>
                <a:cs typeface="Average"/>
                <a:sym typeface="Average"/>
              </a:rPr>
              <a:t>Includes </a:t>
            </a:r>
            <a:r>
              <a:rPr b="1" lang="en" sz="1600">
                <a:latin typeface="Average"/>
                <a:ea typeface="Average"/>
                <a:cs typeface="Average"/>
                <a:sym typeface="Average"/>
              </a:rPr>
              <a:t>factors such as family, work, governmental agencies, laws, culture…</a:t>
            </a:r>
            <a:endParaRPr b="1"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Intake data, observation, client &amp; caregiver interviews…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663"/>
            <a:ext cx="9144000" cy="489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/>
          <p:nvPr/>
        </p:nvSpPr>
        <p:spPr>
          <a:xfrm>
            <a:off x="4667850" y="3407000"/>
            <a:ext cx="4256100" cy="1611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Average"/>
                <a:ea typeface="Average"/>
                <a:cs typeface="Average"/>
                <a:sym typeface="Average"/>
              </a:rPr>
              <a:t>Includes factors such as race, gender, education, motivation…</a:t>
            </a:r>
            <a:endParaRPr b="1"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Intake data, observation, client &amp; caregiver interviews…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663"/>
            <a:ext cx="9144000" cy="489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9"/>
          <p:cNvSpPr/>
          <p:nvPr/>
        </p:nvSpPr>
        <p:spPr>
          <a:xfrm>
            <a:off x="218450" y="323150"/>
            <a:ext cx="3072300" cy="103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A thorough assessment gathers data from: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a green icon with a white check mark inside of it (Provided by Tenor)" id="181" name="Google Shape;1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8100" y="323150"/>
            <a:ext cx="1297350" cy="129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icon with a white check mark inside of it (Provided by Tenor)" id="182" name="Google Shape;18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50" y="2387475"/>
            <a:ext cx="1297350" cy="129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icon with a white check mark inside of it (Provided by Tenor)" id="183" name="Google Shape;1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9850" y="1832100"/>
            <a:ext cx="1297350" cy="129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icon with a white check mark inside of it (Provided by Tenor)" id="184" name="Google Shape;1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1525" y="1770575"/>
            <a:ext cx="1297350" cy="129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icon with a white check mark inside of it (Provided by Tenor)"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800" y="3593700"/>
            <a:ext cx="1297350" cy="129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icon with a white check mark inside of it (Provided by Tenor)" id="186" name="Google Shape;18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700" y="3684825"/>
            <a:ext cx="1297350" cy="12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Resource: ASHA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243425" y="4203550"/>
            <a:ext cx="37644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https://www.asha.org/slp/icf/</a:t>
            </a:r>
            <a:r>
              <a:rPr lang="en"/>
              <a:t> </a:t>
            </a:r>
            <a:endParaRPr/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325200"/>
            <a:ext cx="2876825" cy="27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4725" y="225650"/>
            <a:ext cx="4217301" cy="46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84100" y="1940975"/>
            <a:ext cx="2626500" cy="12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(courtesy ASHA)</a:t>
            </a:r>
            <a:endParaRPr i="1"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0409" y="83475"/>
            <a:ext cx="6078091" cy="49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05925" y="140575"/>
            <a:ext cx="812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resource!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937" y="682613"/>
            <a:ext cx="7732124" cy="435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ICF framework + neurodiversity-affirming services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368675"/>
            <a:ext cx="388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Pros: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Provides scaffold to ensure </a:t>
            </a:r>
            <a:r>
              <a:rPr b="1" i="1" lang="en"/>
              <a:t>thorough </a:t>
            </a:r>
            <a:r>
              <a:rPr lang="en"/>
              <a:t>data collection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Examines how individual characteristics </a:t>
            </a:r>
            <a:r>
              <a:rPr i="1" lang="en"/>
              <a:t>and</a:t>
            </a:r>
            <a:r>
              <a:rPr lang="en"/>
              <a:t> societal influences impact activity/participation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Palatable to non-ND stakeholders (e.g., insurance, school districts…)</a:t>
            </a:r>
            <a:endParaRPr/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4720025" y="1368675"/>
            <a:ext cx="388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Cautions</a:t>
            </a:r>
            <a:r>
              <a:rPr b="1" lang="en" u="sng"/>
              <a:t>: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Pathologizes neurodivergence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Views environment/society as </a:t>
            </a:r>
            <a:r>
              <a:rPr i="1" lang="en"/>
              <a:t>one</a:t>
            </a:r>
            <a:r>
              <a:rPr lang="en"/>
              <a:t> factor (not </a:t>
            </a:r>
            <a:r>
              <a:rPr i="1" lang="en"/>
              <a:t>core</a:t>
            </a:r>
            <a:r>
              <a:rPr lang="en"/>
              <a:t> factor)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service delivery</a:t>
            </a:r>
            <a:endParaRPr/>
          </a:p>
        </p:txBody>
      </p:sp>
      <p:sp>
        <p:nvSpPr>
          <p:cNvPr id="219" name="Google Shape;219;p34"/>
          <p:cNvSpPr/>
          <p:nvPr/>
        </p:nvSpPr>
        <p:spPr>
          <a:xfrm>
            <a:off x="61350" y="1769550"/>
            <a:ext cx="3343500" cy="1604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Assessment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0" name="Google Shape;220;p34"/>
          <p:cNvSpPr/>
          <p:nvPr/>
        </p:nvSpPr>
        <p:spPr>
          <a:xfrm>
            <a:off x="2721950" y="1769550"/>
            <a:ext cx="3432000" cy="1604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Treatment planning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1" name="Google Shape;221;p34"/>
          <p:cNvSpPr/>
          <p:nvPr/>
        </p:nvSpPr>
        <p:spPr>
          <a:xfrm>
            <a:off x="5486900" y="1769550"/>
            <a:ext cx="3505200" cy="1604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Intervention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2" name="Google Shape;222;p34"/>
          <p:cNvSpPr/>
          <p:nvPr/>
        </p:nvSpPr>
        <p:spPr>
          <a:xfrm>
            <a:off x="116150" y="3157750"/>
            <a:ext cx="2605800" cy="11151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WHO-ICF framework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2881100" y="3157750"/>
            <a:ext cx="2605800" cy="11151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FOURC model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645900" y="97500"/>
            <a:ext cx="7852200" cy="16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FOURC Model of Collaborative Goalsetting</a:t>
            </a:r>
            <a:endParaRPr/>
          </a:p>
        </p:txBody>
      </p:sp>
      <p:sp>
        <p:nvSpPr>
          <p:cNvPr id="229" name="Google Shape;229;p35"/>
          <p:cNvSpPr txBox="1"/>
          <p:nvPr/>
        </p:nvSpPr>
        <p:spPr>
          <a:xfrm>
            <a:off x="193450" y="4301425"/>
            <a:ext cx="73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https://www.med.unc.edu/healthsciences/sphs/card/resources/aphasia-goals/fourc-model/</a:t>
            </a:r>
            <a:r>
              <a:rPr lang="en"/>
              <a:t> </a:t>
            </a:r>
            <a:endParaRPr/>
          </a:p>
        </p:txBody>
      </p:sp>
      <p:pic>
        <p:nvPicPr>
          <p:cNvPr id="230" name="Google Shape;23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600" y="1431500"/>
            <a:ext cx="2794185" cy="269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5"/>
          <p:cNvSpPr txBox="1"/>
          <p:nvPr>
            <p:ph type="title"/>
          </p:nvPr>
        </p:nvSpPr>
        <p:spPr>
          <a:xfrm>
            <a:off x="3882125" y="1565825"/>
            <a:ext cx="5007600" cy="24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02590" lvl="0" marL="457200" rtl="0" algn="l">
              <a:spcBef>
                <a:spcPts val="0"/>
              </a:spcBef>
              <a:spcAft>
                <a:spcPts val="0"/>
              </a:spcAft>
              <a:buSzPts val="2740"/>
              <a:buChar char="●"/>
            </a:pPr>
            <a:r>
              <a:rPr lang="en" sz="2740"/>
              <a:t>Created by Dr. Haley &amp; colleagues</a:t>
            </a:r>
            <a:endParaRPr sz="2740"/>
          </a:p>
          <a:p>
            <a:pPr indent="-402590" lvl="0" marL="457200" rtl="0" algn="l">
              <a:spcBef>
                <a:spcPts val="0"/>
              </a:spcBef>
              <a:spcAft>
                <a:spcPts val="0"/>
              </a:spcAft>
              <a:buSzPts val="2740"/>
              <a:buChar char="●"/>
            </a:pPr>
            <a:r>
              <a:rPr lang="en" sz="2740"/>
              <a:t>Designed for adults with aphasia</a:t>
            </a:r>
            <a:endParaRPr sz="2740"/>
          </a:p>
          <a:p>
            <a:pPr indent="-402590" lvl="0" marL="457200" rtl="0" algn="l">
              <a:spcBef>
                <a:spcPts val="0"/>
              </a:spcBef>
              <a:spcAft>
                <a:spcPts val="0"/>
              </a:spcAft>
              <a:buSzPts val="2740"/>
              <a:buChar char="●"/>
            </a:pPr>
            <a:r>
              <a:rPr lang="en" sz="2740"/>
              <a:t>Adapted across various settings</a:t>
            </a:r>
            <a:endParaRPr sz="274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7600"/>
            <a:ext cx="9144001" cy="321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6"/>
          <p:cNvSpPr txBox="1"/>
          <p:nvPr>
            <p:ph type="title"/>
          </p:nvPr>
        </p:nvSpPr>
        <p:spPr>
          <a:xfrm>
            <a:off x="366425" y="3816650"/>
            <a:ext cx="8523300" cy="11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02590" lvl="0" marL="457200" rtl="0" algn="l">
              <a:spcBef>
                <a:spcPts val="0"/>
              </a:spcBef>
              <a:spcAft>
                <a:spcPts val="0"/>
              </a:spcAft>
              <a:buSzPts val="2740"/>
              <a:buChar char="●"/>
            </a:pPr>
            <a:r>
              <a:rPr lang="en" sz="2740"/>
              <a:t>Four steps </a:t>
            </a:r>
            <a:r>
              <a:rPr i="1" lang="en" sz="2540"/>
              <a:t>(all beginning with “C”)</a:t>
            </a:r>
            <a:endParaRPr i="1" sz="2540"/>
          </a:p>
          <a:p>
            <a:pPr indent="-402590" lvl="0" marL="457200" rtl="0" algn="l">
              <a:spcBef>
                <a:spcPts val="0"/>
              </a:spcBef>
              <a:spcAft>
                <a:spcPts val="0"/>
              </a:spcAft>
              <a:buSzPts val="2740"/>
              <a:buChar char="●"/>
            </a:pPr>
            <a:r>
              <a:rPr lang="en" sz="2740"/>
              <a:t>Four prongs </a:t>
            </a:r>
            <a:r>
              <a:rPr i="1" lang="en" sz="2540"/>
              <a:t>(developed in steps 2-4)</a:t>
            </a:r>
            <a:endParaRPr i="1" sz="254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Choose a communication goal</a:t>
            </a:r>
            <a:endParaRPr/>
          </a:p>
        </p:txBody>
      </p:sp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/>
              <a:t>Examples for patients with aphasia:</a:t>
            </a:r>
            <a:endParaRPr sz="2000" u="sng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“Respond to text messages by myself”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“Talk as if I don’t have aphasia at my class reunion”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“Communicate to show my intelligence”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/>
              <a:t>Examples for ND clients:</a:t>
            </a:r>
            <a:endParaRPr sz="2000" u="sng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“Communicate confidently and clearly”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“Study more effectively and stay organized to pass my biology class”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“Make friends at college”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“Be more flexible in my routine”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2-3: Create client solutions, Collaborate on a plan</a:t>
            </a:r>
            <a:endParaRPr/>
          </a:p>
        </p:txBody>
      </p:sp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311700" y="1152475"/>
            <a:ext cx="501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Client solutions: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Driven by client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SLP supports as needed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Collaborate on a plan: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SLP suggests other ideas as needed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Caregiver(s) and collaborator(s) weigh in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Client considers suggestions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700" y="1445813"/>
            <a:ext cx="3511500" cy="282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2-3: Create client solutions, Collaborate on a plan</a:t>
            </a:r>
            <a:endParaRPr/>
          </a:p>
        </p:txBody>
      </p:sp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311700" y="1145675"/>
            <a:ext cx="7360200" cy="3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/>
              <a:t>Skills and abilities</a:t>
            </a:r>
            <a:r>
              <a:rPr lang="en" sz="2000" u="sng"/>
              <a:t>:</a:t>
            </a:r>
            <a:endParaRPr sz="2000"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Wants to type “yes,” “no,” “ok” independently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Difficulty with word-finding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u="sng"/>
              <a:t>Intentional strategies</a:t>
            </a:r>
            <a:r>
              <a:rPr lang="en" sz="2000" u="sng"/>
              <a:t>:</a:t>
            </a:r>
            <a:endParaRPr sz="2000"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Sending pictures via text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Circumlocution and conversational repair</a:t>
            </a:r>
            <a:endParaRPr/>
          </a:p>
        </p:txBody>
      </p:sp>
      <p:sp>
        <p:nvSpPr>
          <p:cNvPr id="258" name="Google Shape;258;p39"/>
          <p:cNvSpPr/>
          <p:nvPr/>
        </p:nvSpPr>
        <p:spPr>
          <a:xfrm>
            <a:off x="5319750" y="1690475"/>
            <a:ext cx="2868300" cy="204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Aphasia case studies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Haley et al., 2023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2-3: Create client solutions, Collaborate on a plan</a:t>
            </a:r>
            <a:endParaRPr/>
          </a:p>
        </p:txBody>
      </p:sp>
      <p:sp>
        <p:nvSpPr>
          <p:cNvPr id="264" name="Google Shape;264;p40"/>
          <p:cNvSpPr txBox="1"/>
          <p:nvPr>
            <p:ph idx="1" type="body"/>
          </p:nvPr>
        </p:nvSpPr>
        <p:spPr>
          <a:xfrm>
            <a:off x="311700" y="1152475"/>
            <a:ext cx="736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/>
              <a:t>Skills and abilities:</a:t>
            </a:r>
            <a:endParaRPr sz="2000"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Wants to reduce dysfluencies and maintain a train of thought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Wants to improve study habits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u="sng"/>
              <a:t>Intentional strategies: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Conversational repair strategies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Scaffolding large tasks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Self-advocacy scripts</a:t>
            </a:r>
            <a:endParaRPr/>
          </a:p>
        </p:txBody>
      </p:sp>
      <p:sp>
        <p:nvSpPr>
          <p:cNvPr id="265" name="Google Shape;265;p40"/>
          <p:cNvSpPr/>
          <p:nvPr/>
        </p:nvSpPr>
        <p:spPr>
          <a:xfrm>
            <a:off x="4895150" y="2139125"/>
            <a:ext cx="2776800" cy="204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Case studies of neurodivergent clients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2-3: Create client solutions, Collaborate on a plan</a:t>
            </a:r>
            <a:endParaRPr/>
          </a:p>
        </p:txBody>
      </p:sp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11700" y="1152475"/>
            <a:ext cx="516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/>
              <a:t>Environmental supports</a:t>
            </a:r>
            <a:r>
              <a:rPr lang="en" sz="2000" u="sng"/>
              <a:t>:</a:t>
            </a:r>
            <a:endParaRPr sz="2000"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Communication partner training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Whiteboard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u="sng"/>
              <a:t>Confidence &amp; motivation</a:t>
            </a:r>
            <a:r>
              <a:rPr lang="en" sz="2000" u="sng"/>
              <a:t>:</a:t>
            </a:r>
            <a:endParaRPr sz="2000"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Practicing with real text messages; using “overlearned” </a:t>
            </a:r>
            <a:r>
              <a:rPr lang="en"/>
              <a:t>scripts</a:t>
            </a:r>
            <a:r>
              <a:rPr lang="en"/>
              <a:t> to boost confidence</a:t>
            </a:r>
            <a:endParaRPr/>
          </a:p>
        </p:txBody>
      </p:sp>
      <p:sp>
        <p:nvSpPr>
          <p:cNvPr id="272" name="Google Shape;272;p41"/>
          <p:cNvSpPr/>
          <p:nvPr/>
        </p:nvSpPr>
        <p:spPr>
          <a:xfrm>
            <a:off x="5367825" y="1550250"/>
            <a:ext cx="2868300" cy="204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Aphasia case studies</a:t>
            </a:r>
            <a:endParaRPr sz="16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Average"/>
                <a:ea typeface="Average"/>
                <a:cs typeface="Average"/>
                <a:sym typeface="Average"/>
              </a:rPr>
              <a:t>Haley et al., 2023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2-3: Create client solutions, Collaborate on a plan</a:t>
            </a:r>
            <a:endParaRPr/>
          </a:p>
        </p:txBody>
      </p:sp>
      <p:sp>
        <p:nvSpPr>
          <p:cNvPr id="278" name="Google Shape;278;p42"/>
          <p:cNvSpPr txBox="1"/>
          <p:nvPr>
            <p:ph idx="1" type="body"/>
          </p:nvPr>
        </p:nvSpPr>
        <p:spPr>
          <a:xfrm>
            <a:off x="311700" y="1152475"/>
            <a:ext cx="410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/>
              <a:t>Environmental supports:</a:t>
            </a:r>
            <a:endParaRPr sz="2000"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Bullet journaling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Conversational “props”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presence of a familiar, supportive friend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u="sng"/>
              <a:t>Confidence &amp; motivation:</a:t>
            </a:r>
            <a:endParaRPr sz="2000"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Openly discussing neurodivergent identity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Finding communities based on shared identity (e.g., neurodivergence) or interests (e.g., anime)</a:t>
            </a:r>
            <a:endParaRPr/>
          </a:p>
        </p:txBody>
      </p:sp>
      <p:sp>
        <p:nvSpPr>
          <p:cNvPr id="279" name="Google Shape;279;p42"/>
          <p:cNvSpPr/>
          <p:nvPr/>
        </p:nvSpPr>
        <p:spPr>
          <a:xfrm>
            <a:off x="4999300" y="1658425"/>
            <a:ext cx="2776800" cy="2043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verage"/>
                <a:ea typeface="Average"/>
                <a:cs typeface="Average"/>
                <a:sym typeface="Average"/>
              </a:rPr>
              <a:t>Case studies of neurodivergent clients</a:t>
            </a:r>
            <a:endParaRPr i="1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4: Complete and continue</a:t>
            </a:r>
            <a:endParaRPr/>
          </a:p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239600" y="1418075"/>
            <a:ext cx="6978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Continue with treatment plan?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Modify goals–more ambitious?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Modify goals–target different skills/domains?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Adjust services–build on what works, what doesn’t?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Adjust services–reduce frequency or intensity?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Discharge?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438"/>
            <a:ext cx="8839201" cy="4830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38" y="152400"/>
            <a:ext cx="865311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38" y="152400"/>
            <a:ext cx="865391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service delivery</a:t>
            </a:r>
            <a:endParaRPr/>
          </a:p>
        </p:txBody>
      </p:sp>
      <p:sp>
        <p:nvSpPr>
          <p:cNvPr id="306" name="Google Shape;306;p47"/>
          <p:cNvSpPr/>
          <p:nvPr/>
        </p:nvSpPr>
        <p:spPr>
          <a:xfrm>
            <a:off x="61350" y="1769550"/>
            <a:ext cx="3343500" cy="1604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Assessment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07" name="Google Shape;307;p47"/>
          <p:cNvSpPr/>
          <p:nvPr/>
        </p:nvSpPr>
        <p:spPr>
          <a:xfrm>
            <a:off x="2721950" y="1769550"/>
            <a:ext cx="3432000" cy="1604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Treatment planning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08" name="Google Shape;308;p47"/>
          <p:cNvSpPr/>
          <p:nvPr/>
        </p:nvSpPr>
        <p:spPr>
          <a:xfrm>
            <a:off x="5486900" y="1769550"/>
            <a:ext cx="3505200" cy="1604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verage"/>
                <a:ea typeface="Average"/>
                <a:cs typeface="Average"/>
                <a:sym typeface="Average"/>
              </a:rPr>
              <a:t>Intervention</a:t>
            </a:r>
            <a:endParaRPr sz="24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09" name="Google Shape;309;p47"/>
          <p:cNvSpPr/>
          <p:nvPr/>
        </p:nvSpPr>
        <p:spPr>
          <a:xfrm>
            <a:off x="116150" y="3157750"/>
            <a:ext cx="2605800" cy="11151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WHO-ICF framework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10" name="Google Shape;310;p47"/>
          <p:cNvSpPr/>
          <p:nvPr/>
        </p:nvSpPr>
        <p:spPr>
          <a:xfrm>
            <a:off x="2881100" y="3157750"/>
            <a:ext cx="2605800" cy="11151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FOURC model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11" name="Google Shape;311;p47"/>
          <p:cNvSpPr/>
          <p:nvPr/>
        </p:nvSpPr>
        <p:spPr>
          <a:xfrm>
            <a:off x="5814800" y="3157750"/>
            <a:ext cx="2605800" cy="1115100"/>
          </a:xfrm>
          <a:prstGeom prst="flowChartConnec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latin typeface="Average"/>
                <a:ea typeface="Average"/>
                <a:cs typeface="Average"/>
                <a:sym typeface="Average"/>
              </a:rPr>
              <a:t>Bring it all together!</a:t>
            </a:r>
            <a:endParaRPr i="1" sz="20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775" y="346225"/>
            <a:ext cx="5548575" cy="296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629091">
            <a:off x="243400" y="1924545"/>
            <a:ext cx="4533326" cy="216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8"/>
          <p:cNvSpPr/>
          <p:nvPr/>
        </p:nvSpPr>
        <p:spPr>
          <a:xfrm rot="-1906614">
            <a:off x="595769" y="511404"/>
            <a:ext cx="4673070" cy="170166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463" y="552050"/>
            <a:ext cx="7547075" cy="403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9"/>
          <p:cNvSpPr/>
          <p:nvPr/>
        </p:nvSpPr>
        <p:spPr>
          <a:xfrm>
            <a:off x="3700575" y="1825275"/>
            <a:ext cx="4290000" cy="127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1: Choose communication goal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25" name="Google Shape;325;p49"/>
          <p:cNvSpPr/>
          <p:nvPr/>
        </p:nvSpPr>
        <p:spPr>
          <a:xfrm>
            <a:off x="598475" y="1131125"/>
            <a:ext cx="2271300" cy="11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2-3a: Skills &amp; abilities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26" name="Google Shape;326;p49"/>
          <p:cNvSpPr/>
          <p:nvPr/>
        </p:nvSpPr>
        <p:spPr>
          <a:xfrm>
            <a:off x="1240150" y="2008350"/>
            <a:ext cx="6420600" cy="11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2-3b: Intentional strategies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27" name="Google Shape;327;p49"/>
          <p:cNvSpPr/>
          <p:nvPr/>
        </p:nvSpPr>
        <p:spPr>
          <a:xfrm>
            <a:off x="493625" y="4214800"/>
            <a:ext cx="37761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2-3c: Environmental supports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28" name="Google Shape;328;p49"/>
          <p:cNvSpPr/>
          <p:nvPr/>
        </p:nvSpPr>
        <p:spPr>
          <a:xfrm>
            <a:off x="5316475" y="4158050"/>
            <a:ext cx="3700200" cy="851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2-3d: Confidence &amp; motivation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29" name="Google Shape;329;p49"/>
          <p:cNvSpPr/>
          <p:nvPr/>
        </p:nvSpPr>
        <p:spPr>
          <a:xfrm>
            <a:off x="650475" y="1740650"/>
            <a:ext cx="7419900" cy="326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4</a:t>
            </a:r>
            <a:r>
              <a:rPr lang="en" sz="2000">
                <a:latin typeface="Average"/>
                <a:ea typeface="Average"/>
                <a:cs typeface="Average"/>
                <a:sym typeface="Average"/>
              </a:rPr>
              <a:t>: Complete &amp; continue</a:t>
            </a:r>
            <a:endParaRPr sz="20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“neurodiversity-affirming principles?”</a:t>
            </a:r>
            <a:endParaRPr/>
          </a:p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311700" y="1414225"/>
            <a:ext cx="407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A commitment to continued learning about autism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Providing safety to be one’s autistic self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Finding a way to communicate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Authenticity and humility in practice</a:t>
            </a:r>
            <a:endParaRPr sz="2400"/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400"/>
              <a:t>Validation of autistic experiences</a:t>
            </a:r>
            <a:endParaRPr sz="2400"/>
          </a:p>
        </p:txBody>
      </p:sp>
      <p:sp>
        <p:nvSpPr>
          <p:cNvPr id="336" name="Google Shape;336;p50"/>
          <p:cNvSpPr txBox="1"/>
          <p:nvPr>
            <p:ph idx="1" type="body"/>
          </p:nvPr>
        </p:nvSpPr>
        <p:spPr>
          <a:xfrm>
            <a:off x="4942800" y="1528000"/>
            <a:ext cx="420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6. Autistic-informed, person-centered support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7. Genuine acceptance and appreciation of autism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8. Educate non-autistic people about autism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9. Prioritize well-being over compliance</a:t>
            </a:r>
            <a:endParaRPr sz="2400"/>
          </a:p>
        </p:txBody>
      </p:sp>
      <p:pic>
        <p:nvPicPr>
          <p:cNvPr descr="a green icon with a white check mark inside of it (Provided by Tenor)"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4300" y="1609475"/>
            <a:ext cx="755175" cy="75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icon with a white check mark inside of it (Provided by Tenor)" id="338" name="Google Shape;33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7125" y="4189225"/>
            <a:ext cx="755175" cy="75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icon with a white check mark inside of it (Provided by Tenor)" id="339" name="Google Shape;3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8050" y="2676563"/>
            <a:ext cx="755175" cy="75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icon with a white check mark inside of it (Provided by Tenor)" id="340" name="Google Shape;3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6625" y="3581300"/>
            <a:ext cx="1363100" cy="13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0"/>
          <p:cNvSpPr/>
          <p:nvPr/>
        </p:nvSpPr>
        <p:spPr>
          <a:xfrm rot="-1605309">
            <a:off x="3343591" y="753653"/>
            <a:ext cx="2385719" cy="92157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You’re here, aren’t you?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42" name="Google Shape;342;p50"/>
          <p:cNvSpPr/>
          <p:nvPr/>
        </p:nvSpPr>
        <p:spPr>
          <a:xfrm rot="-938851">
            <a:off x="3923372" y="1526260"/>
            <a:ext cx="2385820" cy="92159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Can implement in your clinical approach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43" name="Google Shape;343;p50"/>
          <p:cNvSpPr/>
          <p:nvPr/>
        </p:nvSpPr>
        <p:spPr>
          <a:xfrm rot="-938851">
            <a:off x="5850497" y="2020035"/>
            <a:ext cx="2385820" cy="92159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Can implement in your clinical approach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44" name="Google Shape;344;p50"/>
          <p:cNvSpPr/>
          <p:nvPr/>
        </p:nvSpPr>
        <p:spPr>
          <a:xfrm flipH="1" rot="-1135468">
            <a:off x="2343812" y="3207423"/>
            <a:ext cx="2565049" cy="150021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Caregiver/communication training? Environmental supports? Self-advocacy?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350" name="Google Shape;35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/>
              <a:t>Client: “L.S.”</a:t>
            </a:r>
            <a:endParaRPr b="1" sz="2400" u="sng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19F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Pre-med track at local university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Diagnosed autistic at age 17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Self-referred w/mother’s input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Resurgence of speech sound errors impacting clarity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Concerns about pragmatic communication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Executive function difficulties</a:t>
            </a:r>
            <a:endParaRPr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Choose </a:t>
            </a:r>
            <a:r>
              <a:rPr lang="en"/>
              <a:t>communication</a:t>
            </a:r>
            <a:r>
              <a:rPr lang="en"/>
              <a:t> goal(s)</a:t>
            </a:r>
            <a:endParaRPr/>
          </a:p>
        </p:txBody>
      </p:sp>
      <p:sp>
        <p:nvSpPr>
          <p:cNvPr id="356" name="Google Shape;356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“Communicate confidently and clearly”</a:t>
            </a:r>
            <a:endParaRPr sz="27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When speaking with mother on the phone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With unfamiliar communication partners</a:t>
            </a:r>
            <a:endParaRPr sz="23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“Be more flexible in my routine”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2-3: Create client solutions; Collaborate on a plan</a:t>
            </a:r>
            <a:endParaRPr/>
          </a:p>
        </p:txBody>
      </p:sp>
      <p:sp>
        <p:nvSpPr>
          <p:cNvPr id="362" name="Google Shape;362;p53"/>
          <p:cNvSpPr txBox="1"/>
          <p:nvPr>
            <p:ph idx="1" type="body"/>
          </p:nvPr>
        </p:nvSpPr>
        <p:spPr>
          <a:xfrm>
            <a:off x="311700" y="1152475"/>
            <a:ext cx="8520600" cy="3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 u="sng"/>
              <a:t>Skills &amp; abilities:</a:t>
            </a:r>
            <a:r>
              <a:rPr b="1" lang="en" sz="1900"/>
              <a:t> </a:t>
            </a:r>
            <a:r>
              <a:rPr lang="en" sz="1900"/>
              <a:t>Concerned about word-finding, mispronouncing words</a:t>
            </a:r>
            <a:endParaRPr sz="19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Modified speech motor chaining (select target words, then progress from word -&gt; phrase -&gt; sentence in sequence)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Instruction in conversational “place-holding”</a:t>
            </a:r>
            <a:endParaRPr sz="1500"/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 u="sng"/>
              <a:t>Intentional strategies:</a:t>
            </a:r>
            <a:endParaRPr b="1" sz="1900" u="sng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Conversational repair strategies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Maintain a schedule</a:t>
            </a:r>
            <a:endParaRPr sz="1500"/>
          </a:p>
          <a:p>
            <a:pPr indent="-32385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Scheduling unstructured free time/self-care</a:t>
            </a:r>
            <a:endParaRPr sz="1500"/>
          </a:p>
          <a:p>
            <a:pPr indent="-32385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Prepare set of “alternate” activities/tasks</a:t>
            </a:r>
            <a:endParaRPr sz="1500"/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 u="sng"/>
              <a:t>Environmental supports:</a:t>
            </a:r>
            <a:endParaRPr b="1" sz="1900" u="sng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“Caregiver communication training”</a:t>
            </a:r>
            <a:endParaRPr sz="1500"/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 u="sng"/>
              <a:t>Confidence &amp; motivation:</a:t>
            </a:r>
            <a:endParaRPr b="1" sz="1900" u="sng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Recording speech &amp; self-evaluation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Open discussion of autistic communication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4: Complete &amp; continue</a:t>
            </a:r>
            <a:endParaRPr/>
          </a:p>
        </p:txBody>
      </p:sp>
      <p:sp>
        <p:nvSpPr>
          <p:cNvPr id="368" name="Google Shape;368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Reported increased confidence in communication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Reported consistent implementation of strategies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Chose to discontinue services at the end of the 8-week semester</a:t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5"/>
          <p:cNvSpPr txBox="1"/>
          <p:nvPr>
            <p:ph type="ctrTitle"/>
          </p:nvPr>
        </p:nvSpPr>
        <p:spPr>
          <a:xfrm>
            <a:off x="639200" y="293775"/>
            <a:ext cx="7801500" cy="81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 Thoughts? </a:t>
            </a:r>
            <a:endParaRPr/>
          </a:p>
        </p:txBody>
      </p:sp>
      <p:sp>
        <p:nvSpPr>
          <p:cNvPr id="374" name="Google Shape;374;p55"/>
          <p:cNvSpPr txBox="1"/>
          <p:nvPr>
            <p:ph idx="1" type="subTitle"/>
          </p:nvPr>
        </p:nvSpPr>
        <p:spPr>
          <a:xfrm>
            <a:off x="639200" y="1394025"/>
            <a:ext cx="7801500" cy="12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Reed Senter</a:t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Reed.Senter@desales.edu</a:t>
            </a:r>
            <a:r>
              <a:rPr lang="en"/>
              <a:t> </a:t>
            </a:r>
            <a:endParaRPr/>
          </a:p>
        </p:txBody>
      </p:sp>
      <p:sp>
        <p:nvSpPr>
          <p:cNvPr id="375" name="Google Shape;375;p55"/>
          <p:cNvSpPr/>
          <p:nvPr/>
        </p:nvSpPr>
        <p:spPr>
          <a:xfrm>
            <a:off x="7098400" y="1930825"/>
            <a:ext cx="1626300" cy="11577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Download my FOURC handout: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76" name="Google Shape;37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4775" y="3272975"/>
            <a:ext cx="17335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188" y="3226437"/>
            <a:ext cx="1762125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5"/>
          <p:cNvSpPr/>
          <p:nvPr/>
        </p:nvSpPr>
        <p:spPr>
          <a:xfrm flipH="1">
            <a:off x="2355425" y="3387338"/>
            <a:ext cx="2179200" cy="14022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verage"/>
                <a:ea typeface="Average"/>
                <a:cs typeface="Average"/>
                <a:sym typeface="Average"/>
              </a:rPr>
              <a:t>Download my WHO-ICF handout: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