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13EE-3A93-4968-2F1E-101D9817B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62ABC-A234-47DF-6636-ED823AC88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34320-1309-1FA8-001C-08421D99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48727-9885-9BE9-2C7A-D58CD9BA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C5A2B-56A6-2F78-2A44-17389D0D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8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E934-83CB-50A7-BCE1-9AAC0D7E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34426-B7CF-1F66-636E-1EAA827F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5A289-3E39-0256-624D-8D792B95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691B-58B2-B485-48DB-FB2BE47F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6046-D518-A413-E931-A2E56859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6C66-FE51-3EA4-D869-EBF96651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1B7D8-EC49-E17D-99D5-C2FF9C8A0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340CA-ED6A-7807-8C63-11C4D89D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D9A74-0B83-DA31-F0F7-941CE8D2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42499-8DEC-3FB9-817F-4866146C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6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A2A0-43C2-A783-99D9-41373762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314E6-BED0-BD08-C0A3-B523A07A5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CFFB8-2D18-C450-B89F-4C798556B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6E96F-6FEF-76EC-0F1E-43C138263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DBBE6-B2EE-B129-D895-8EC496A5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2DFE7-473A-7B82-7230-0F0DF91D1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1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5E08-78EC-4466-829F-FEEB2F66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603C8-141A-8957-324D-836B45539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D9DE8-DC7A-5A4C-6426-EE4BECAC4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3BED4-4D7F-8027-74D5-D8D15670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EB2682-3226-B284-8788-5216044E8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11D97-A704-EC39-209F-38C4A4B4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6618BC-983C-4227-1641-17F82A97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11DAD-D0EA-7B19-A4FD-FBD10B8B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7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D258-CFA9-BC5E-96AD-BA764C75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8C716C-D643-BDAB-B7A3-15935D9A3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6F21C-8BA8-4FD1-F87D-772BDFDD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1ACA4-6BCB-F98A-364F-0F05EA91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95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14290-8202-7CEB-E864-A7DC81C3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8F17F-F92C-BB03-71CA-2A66CA5C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6B12F-D0A4-6AB5-507B-E7925747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3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AE6FB-5175-C061-6A38-46D46A9A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4906E-C820-A2E8-CF1A-B96A5420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AF85D-1E6A-74BE-1F8A-5307ACB74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D709E-BD36-1BCC-3FEC-0A5459CA7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9B7F-DCEC-9742-24CF-0409816F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A8548-6E58-E486-F441-682F21D70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7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409E-5B9D-5CA9-2744-10D70A0F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2F9B9-C6BA-3CB1-B0A9-48385493F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FFC1C-AF05-90D0-7C52-3C9ECFDC2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F1649-E3AA-46A8-1A14-8DEF40A57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0C77B-F7F9-8FB4-1A8B-AB1E5F616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E468A-0258-4A74-7D02-EED31FF0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D58F-8DEF-BC0E-A6CF-6986C6F0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E63D3-3DD3-3F40-5AF9-37275F232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46819-42A2-561B-E273-0C0ADC2D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05968-0EC6-F11B-F577-4D76B7141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44949-AAAF-67EF-4747-41B57990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9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0CB58C-1AA3-792B-9596-0B8CFF4AA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52707-7CB6-9B85-FFE1-282B1DE8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D9976-E45A-1555-1EAC-C1A545BE5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CFBC7-8210-0FB2-D23B-0ECF2CA67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14D0A-866A-D5F1-1A47-2C6ADEC0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40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4535B-4E7B-421A-329F-57224F6D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8C2E0-8A19-3E44-13A7-55A96B1C3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0834E-02BA-DFF7-BFCA-FF939316D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4DB3F-FF24-489E-BF9A-17136D342A2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3CE4B-D42B-38F4-5D99-EE37CC914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C6D9-4455-6965-9E84-920D7AA5D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9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F1A3A5-E320-90D0-372A-CB9C309FCFBB}"/>
              </a:ext>
            </a:extLst>
          </p:cNvPr>
          <p:cNvSpPr/>
          <p:nvPr/>
        </p:nvSpPr>
        <p:spPr>
          <a:xfrm>
            <a:off x="283864" y="236711"/>
            <a:ext cx="7217402" cy="194517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My </a:t>
            </a:r>
            <a:r>
              <a:rPr lang="en-US" b="1" dirty="0">
                <a:solidFill>
                  <a:schemeClr val="tx1"/>
                </a:solidFill>
              </a:rPr>
              <a:t>strengths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needs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B83A794F-B400-2AAE-419C-F906DFE08BB0}"/>
              </a:ext>
            </a:extLst>
          </p:cNvPr>
          <p:cNvSpPr/>
          <p:nvPr/>
        </p:nvSpPr>
        <p:spPr>
          <a:xfrm>
            <a:off x="663401" y="512840"/>
            <a:ext cx="1457233" cy="1008142"/>
          </a:xfrm>
          <a:prstGeom prst="wedgeEllipseCallout">
            <a:avLst>
              <a:gd name="adj1" fmla="val -39060"/>
              <a:gd name="adj2" fmla="val 67401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773BFD-5FA4-E8EE-FBAB-794E59B06CCA}"/>
              </a:ext>
            </a:extLst>
          </p:cNvPr>
          <p:cNvSpPr/>
          <p:nvPr/>
        </p:nvSpPr>
        <p:spPr>
          <a:xfrm>
            <a:off x="7659232" y="236710"/>
            <a:ext cx="4248904" cy="4118008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It helps when </a:t>
            </a:r>
            <a:r>
              <a:rPr lang="en-US" b="1" dirty="0">
                <a:solidFill>
                  <a:schemeClr val="tx1"/>
                </a:solidFill>
              </a:rPr>
              <a:t>people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Other things </a:t>
            </a:r>
            <a:r>
              <a:rPr lang="en-US" dirty="0">
                <a:solidFill>
                  <a:schemeClr val="tx1"/>
                </a:solidFill>
              </a:rPr>
              <a:t>that help:</a:t>
            </a:r>
          </a:p>
        </p:txBody>
      </p:sp>
      <p:pic>
        <p:nvPicPr>
          <p:cNvPr id="8" name="Graphic 7" descr="Group with solid fill">
            <a:extLst>
              <a:ext uri="{FF2B5EF4-FFF2-40B4-BE49-F238E27FC236}">
                <a16:creationId xmlns:a16="http://schemas.microsoft.com/office/drawing/2014/main" id="{7EA9BA3E-6606-78C1-A918-089557C2C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7501" y="236709"/>
            <a:ext cx="914400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186138-0C91-5457-93B6-D57933D75552}"/>
              </a:ext>
            </a:extLst>
          </p:cNvPr>
          <p:cNvSpPr/>
          <p:nvPr/>
        </p:nvSpPr>
        <p:spPr>
          <a:xfrm>
            <a:off x="3711921" y="4499572"/>
            <a:ext cx="8196215" cy="212171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Things I can do: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When I get have trouble, I can: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How I want to practice: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82D101-D607-3301-FC56-1BFADDB1125A}"/>
              </a:ext>
            </a:extLst>
          </p:cNvPr>
          <p:cNvSpPr/>
          <p:nvPr/>
        </p:nvSpPr>
        <p:spPr>
          <a:xfrm>
            <a:off x="283865" y="2295715"/>
            <a:ext cx="3274148" cy="437669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It’s easy to: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 prefer to: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 have questions about: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6389B6-FE62-0796-4043-48F338546A6E}"/>
              </a:ext>
            </a:extLst>
          </p:cNvPr>
          <p:cNvSpPr/>
          <p:nvPr/>
        </p:nvSpPr>
        <p:spPr>
          <a:xfrm>
            <a:off x="3711921" y="2295715"/>
            <a:ext cx="3789345" cy="2059004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MY GOAL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13" name="Graphic 12" descr="Head with gears outline">
            <a:extLst>
              <a:ext uri="{FF2B5EF4-FFF2-40B4-BE49-F238E27FC236}">
                <a16:creationId xmlns:a16="http://schemas.microsoft.com/office/drawing/2014/main" id="{42BA3826-C3CF-7642-D46C-EA3436699D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580238" y="2498429"/>
            <a:ext cx="820944" cy="826788"/>
          </a:xfrm>
          <a:prstGeom prst="rect">
            <a:avLst/>
          </a:prstGeom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ABD1FD70-966C-4552-B9F9-ECFDB0E97540}"/>
              </a:ext>
            </a:extLst>
          </p:cNvPr>
          <p:cNvSpPr/>
          <p:nvPr/>
        </p:nvSpPr>
        <p:spPr>
          <a:xfrm flipH="1">
            <a:off x="1920939" y="2384599"/>
            <a:ext cx="704705" cy="481108"/>
          </a:xfrm>
          <a:prstGeom prst="wedgeEllipseCallout">
            <a:avLst>
              <a:gd name="adj1" fmla="val -50622"/>
              <a:gd name="adj2" fmla="val 74929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1F7AD1CE-A801-DBC9-971D-6BB2530B29E9}"/>
              </a:ext>
            </a:extLst>
          </p:cNvPr>
          <p:cNvSpPr/>
          <p:nvPr/>
        </p:nvSpPr>
        <p:spPr>
          <a:xfrm>
            <a:off x="9783684" y="4655084"/>
            <a:ext cx="1774479" cy="905347"/>
          </a:xfrm>
          <a:prstGeom prst="cloudCallout">
            <a:avLst>
              <a:gd name="adj1" fmla="val -37160"/>
              <a:gd name="adj2" fmla="val 79500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6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0A5A2-3352-515F-F906-2E4E92924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F1658D-D2C3-33A0-DE13-50C341CDEE94}"/>
              </a:ext>
            </a:extLst>
          </p:cNvPr>
          <p:cNvSpPr/>
          <p:nvPr/>
        </p:nvSpPr>
        <p:spPr>
          <a:xfrm>
            <a:off x="283864" y="236711"/>
            <a:ext cx="7217402" cy="194517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My child’s </a:t>
            </a:r>
            <a:r>
              <a:rPr lang="en-US" b="1" dirty="0">
                <a:solidFill>
                  <a:schemeClr val="tx1"/>
                </a:solidFill>
              </a:rPr>
              <a:t>strengths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needs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90552247-DF27-288B-C7C9-01BF6CF92AD5}"/>
              </a:ext>
            </a:extLst>
          </p:cNvPr>
          <p:cNvSpPr/>
          <p:nvPr/>
        </p:nvSpPr>
        <p:spPr>
          <a:xfrm>
            <a:off x="663401" y="512840"/>
            <a:ext cx="1457233" cy="1008142"/>
          </a:xfrm>
          <a:prstGeom prst="wedgeEllipseCallout">
            <a:avLst>
              <a:gd name="adj1" fmla="val -39060"/>
              <a:gd name="adj2" fmla="val 67401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A17314-BCFE-7511-2CB7-F79846AAEA5F}"/>
              </a:ext>
            </a:extLst>
          </p:cNvPr>
          <p:cNvSpPr/>
          <p:nvPr/>
        </p:nvSpPr>
        <p:spPr>
          <a:xfrm>
            <a:off x="7659232" y="236710"/>
            <a:ext cx="4248904" cy="4118008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It helps when </a:t>
            </a:r>
            <a:r>
              <a:rPr lang="en-US" b="1" dirty="0">
                <a:solidFill>
                  <a:schemeClr val="tx1"/>
                </a:solidFill>
              </a:rPr>
              <a:t>people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Other things </a:t>
            </a:r>
            <a:r>
              <a:rPr lang="en-US" dirty="0">
                <a:solidFill>
                  <a:schemeClr val="tx1"/>
                </a:solidFill>
              </a:rPr>
              <a:t>that help:</a:t>
            </a:r>
          </a:p>
        </p:txBody>
      </p:sp>
      <p:pic>
        <p:nvPicPr>
          <p:cNvPr id="8" name="Graphic 7" descr="Group with solid fill">
            <a:extLst>
              <a:ext uri="{FF2B5EF4-FFF2-40B4-BE49-F238E27FC236}">
                <a16:creationId xmlns:a16="http://schemas.microsoft.com/office/drawing/2014/main" id="{C2195D7D-C67C-03F4-7AB0-C43D228A6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7501" y="236709"/>
            <a:ext cx="914400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A657248-3C33-F21F-E760-AC48C2C2EEE3}"/>
              </a:ext>
            </a:extLst>
          </p:cNvPr>
          <p:cNvSpPr/>
          <p:nvPr/>
        </p:nvSpPr>
        <p:spPr>
          <a:xfrm>
            <a:off x="3711921" y="4499572"/>
            <a:ext cx="8196215" cy="212171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Strategies my child uses: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What I want speech therapy to look like: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F08081-EC1C-E585-6BA7-97C2A4E216D1}"/>
              </a:ext>
            </a:extLst>
          </p:cNvPr>
          <p:cNvSpPr/>
          <p:nvPr/>
        </p:nvSpPr>
        <p:spPr>
          <a:xfrm>
            <a:off x="283865" y="2295715"/>
            <a:ext cx="3274148" cy="437669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My child’s priorities are: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 have questions about: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9A019-79C7-0F49-205D-A4B99D86FB44}"/>
              </a:ext>
            </a:extLst>
          </p:cNvPr>
          <p:cNvSpPr/>
          <p:nvPr/>
        </p:nvSpPr>
        <p:spPr>
          <a:xfrm>
            <a:off x="3711921" y="2295715"/>
            <a:ext cx="3789345" cy="2059004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MY GOAL FOR MY CHILD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13" name="Graphic 12" descr="Head with gears outline">
            <a:extLst>
              <a:ext uri="{FF2B5EF4-FFF2-40B4-BE49-F238E27FC236}">
                <a16:creationId xmlns:a16="http://schemas.microsoft.com/office/drawing/2014/main" id="{6169DE45-577F-2C2F-9834-592E077F1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625644" y="2384599"/>
            <a:ext cx="820944" cy="826788"/>
          </a:xfrm>
          <a:prstGeom prst="rect">
            <a:avLst/>
          </a:prstGeom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0B67E66B-99CB-E099-4B8D-5EE3AF80028A}"/>
              </a:ext>
            </a:extLst>
          </p:cNvPr>
          <p:cNvSpPr/>
          <p:nvPr/>
        </p:nvSpPr>
        <p:spPr>
          <a:xfrm flipH="1">
            <a:off x="1920939" y="2384599"/>
            <a:ext cx="704705" cy="481108"/>
          </a:xfrm>
          <a:prstGeom prst="wedgeEllipseCallout">
            <a:avLst>
              <a:gd name="adj1" fmla="val -50622"/>
              <a:gd name="adj2" fmla="val 74929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C5840C27-471A-5643-E656-23C58D879FF5}"/>
              </a:ext>
            </a:extLst>
          </p:cNvPr>
          <p:cNvSpPr/>
          <p:nvPr/>
        </p:nvSpPr>
        <p:spPr>
          <a:xfrm>
            <a:off x="9783684" y="4655084"/>
            <a:ext cx="1774479" cy="905347"/>
          </a:xfrm>
          <a:prstGeom prst="cloudCallout">
            <a:avLst>
              <a:gd name="adj1" fmla="val -37160"/>
              <a:gd name="adj2" fmla="val 79500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09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CC95-1EC2-89F5-BDC8-2E82A8798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2D99AC-2479-B5AD-DEC2-EDB3E7158567}"/>
              </a:ext>
            </a:extLst>
          </p:cNvPr>
          <p:cNvSpPr/>
          <p:nvPr/>
        </p:nvSpPr>
        <p:spPr>
          <a:xfrm>
            <a:off x="283864" y="236711"/>
            <a:ext cx="7217402" cy="194517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	Client’s </a:t>
            </a:r>
            <a:r>
              <a:rPr lang="en-US" b="1" dirty="0">
                <a:solidFill>
                  <a:schemeClr val="tx1"/>
                </a:solidFill>
              </a:rPr>
              <a:t>strengths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needs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7685B-2C6D-1EDC-17DA-FBC5ADCF0E57}"/>
              </a:ext>
            </a:extLst>
          </p:cNvPr>
          <p:cNvSpPr/>
          <p:nvPr/>
        </p:nvSpPr>
        <p:spPr>
          <a:xfrm>
            <a:off x="7659232" y="236710"/>
            <a:ext cx="4248904" cy="4118008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It helps when </a:t>
            </a:r>
            <a:r>
              <a:rPr lang="en-US" b="1" dirty="0">
                <a:solidFill>
                  <a:schemeClr val="tx1"/>
                </a:solidFill>
              </a:rPr>
              <a:t>people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Other things </a:t>
            </a:r>
            <a:r>
              <a:rPr lang="en-US" dirty="0">
                <a:solidFill>
                  <a:schemeClr val="tx1"/>
                </a:solidFill>
              </a:rPr>
              <a:t>that help:</a:t>
            </a:r>
          </a:p>
        </p:txBody>
      </p:sp>
      <p:pic>
        <p:nvPicPr>
          <p:cNvPr id="8" name="Graphic 7" descr="Group with solid fill">
            <a:extLst>
              <a:ext uri="{FF2B5EF4-FFF2-40B4-BE49-F238E27FC236}">
                <a16:creationId xmlns:a16="http://schemas.microsoft.com/office/drawing/2014/main" id="{57855593-E35B-7AFC-8CA1-E8EE36DD8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7501" y="236709"/>
            <a:ext cx="914400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1C6EAF-91E5-AAB5-FD2F-E65BF226DB53}"/>
              </a:ext>
            </a:extLst>
          </p:cNvPr>
          <p:cNvSpPr/>
          <p:nvPr/>
        </p:nvSpPr>
        <p:spPr>
          <a:xfrm>
            <a:off x="3711921" y="4499572"/>
            <a:ext cx="8196215" cy="212171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Things I can do: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When I get have trouble, I can: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How I want to practice: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E1BB1-617F-E623-7690-B31F4F13F478}"/>
              </a:ext>
            </a:extLst>
          </p:cNvPr>
          <p:cNvSpPr/>
          <p:nvPr/>
        </p:nvSpPr>
        <p:spPr>
          <a:xfrm>
            <a:off x="283865" y="2295715"/>
            <a:ext cx="3274148" cy="437669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9FF740-6ACD-F6A3-C552-942A5D8B9D52}"/>
              </a:ext>
            </a:extLst>
          </p:cNvPr>
          <p:cNvSpPr/>
          <p:nvPr/>
        </p:nvSpPr>
        <p:spPr>
          <a:xfrm>
            <a:off x="3711921" y="2295715"/>
            <a:ext cx="3789345" cy="2059004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CLIENT GOAL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13" name="Graphic 12" descr="Head with gears outline">
            <a:extLst>
              <a:ext uri="{FF2B5EF4-FFF2-40B4-BE49-F238E27FC236}">
                <a16:creationId xmlns:a16="http://schemas.microsoft.com/office/drawing/2014/main" id="{B53EDB6C-D537-1434-F86C-D6717262F7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580238" y="2498429"/>
            <a:ext cx="820944" cy="826788"/>
          </a:xfrm>
          <a:prstGeom prst="rect">
            <a:avLst/>
          </a:prstGeom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4A3E7E20-D84D-D63A-F04B-463CC9A95F3C}"/>
              </a:ext>
            </a:extLst>
          </p:cNvPr>
          <p:cNvSpPr/>
          <p:nvPr/>
        </p:nvSpPr>
        <p:spPr>
          <a:xfrm flipH="1">
            <a:off x="1920939" y="2384599"/>
            <a:ext cx="704705" cy="481108"/>
          </a:xfrm>
          <a:prstGeom prst="wedgeEllipseCallout">
            <a:avLst>
              <a:gd name="adj1" fmla="val -50622"/>
              <a:gd name="adj2" fmla="val 74929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EB69EB5F-F08E-CA55-55B9-C0B677ACCD24}"/>
              </a:ext>
            </a:extLst>
          </p:cNvPr>
          <p:cNvSpPr/>
          <p:nvPr/>
        </p:nvSpPr>
        <p:spPr>
          <a:xfrm>
            <a:off x="9871767" y="4655084"/>
            <a:ext cx="1774479" cy="905347"/>
          </a:xfrm>
          <a:prstGeom prst="cloudCallout">
            <a:avLst>
              <a:gd name="adj1" fmla="val -27466"/>
              <a:gd name="adj2" fmla="val 70500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2D6F1-6425-F7A3-EBC0-F075DE52DA1C}"/>
              </a:ext>
            </a:extLst>
          </p:cNvPr>
          <p:cNvSpPr txBox="1"/>
          <p:nvPr/>
        </p:nvSpPr>
        <p:spPr>
          <a:xfrm>
            <a:off x="2273291" y="1016911"/>
            <a:ext cx="4701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Consider skills/domains (speech, language, pragmatics, fluency, executive function, literacy)…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242D4-ABA5-C82D-79F8-E652AA785D7E}"/>
              </a:ext>
            </a:extLst>
          </p:cNvPr>
          <p:cNvSpPr txBox="1"/>
          <p:nvPr/>
        </p:nvSpPr>
        <p:spPr>
          <a:xfrm>
            <a:off x="7880803" y="1429474"/>
            <a:ext cx="37953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Consider communication partner training, modified instructional style, modified communication style, teaching others about condition, accessibility…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B5047-F05B-B9BE-2003-C6FD7B09A099}"/>
              </a:ext>
            </a:extLst>
          </p:cNvPr>
          <p:cNvSpPr txBox="1"/>
          <p:nvPr/>
        </p:nvSpPr>
        <p:spPr>
          <a:xfrm>
            <a:off x="8158702" y="3114680"/>
            <a:ext cx="30919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Consider accommodations, environmental modifications, reducing distractions, apps &amp; tools…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77A70F-AECB-45FB-AA80-7AE02E6D2B77}"/>
              </a:ext>
            </a:extLst>
          </p:cNvPr>
          <p:cNvSpPr txBox="1"/>
          <p:nvPr/>
        </p:nvSpPr>
        <p:spPr>
          <a:xfrm>
            <a:off x="3982133" y="3088376"/>
            <a:ext cx="3251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Create a </a:t>
            </a:r>
            <a:r>
              <a:rPr lang="en-US" sz="1600" b="1" i="1" dirty="0"/>
              <a:t>functional, personalized</a:t>
            </a:r>
            <a:r>
              <a:rPr lang="en-US" sz="1600" i="1" dirty="0"/>
              <a:t> goal with the client—something that they find motivating.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8F7164-6654-B6B8-0BC6-2B856A5B7C67}"/>
              </a:ext>
            </a:extLst>
          </p:cNvPr>
          <p:cNvSpPr txBox="1"/>
          <p:nvPr/>
        </p:nvSpPr>
        <p:spPr>
          <a:xfrm>
            <a:off x="465640" y="3631360"/>
            <a:ext cx="29105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/>
              <a:t>Prompt for personal factors: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Knowledge of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Self-awareness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Autonomy &amp; independence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Connectedness with peers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Accountability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01D489-906C-76DA-D3A3-CEC853EE8ED8}"/>
              </a:ext>
            </a:extLst>
          </p:cNvPr>
          <p:cNvSpPr txBox="1"/>
          <p:nvPr/>
        </p:nvSpPr>
        <p:spPr>
          <a:xfrm>
            <a:off x="3764732" y="5456245"/>
            <a:ext cx="6681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Prompt for strategies the client uses, or would be willing to consider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946C7C-970D-1C88-0552-F99300DBB7F7}"/>
              </a:ext>
            </a:extLst>
          </p:cNvPr>
          <p:cNvSpPr txBox="1"/>
          <p:nvPr/>
        </p:nvSpPr>
        <p:spPr>
          <a:xfrm>
            <a:off x="3764732" y="6178550"/>
            <a:ext cx="7881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Discuss appropriate intervention techniques and methods, for acquisition &amp; practice</a:t>
            </a:r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BD049803-2076-FEE5-79C0-C24695312F3F}"/>
              </a:ext>
            </a:extLst>
          </p:cNvPr>
          <p:cNvSpPr/>
          <p:nvPr/>
        </p:nvSpPr>
        <p:spPr>
          <a:xfrm>
            <a:off x="166404" y="156172"/>
            <a:ext cx="2625506" cy="1986472"/>
          </a:xfrm>
          <a:prstGeom prst="star5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SLP COPY</a:t>
            </a:r>
            <a:endParaRPr 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4030580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246</Words>
  <Application>Microsoft Office PowerPoint</Application>
  <PresentationFormat>Widescreen</PresentationFormat>
  <Paragraphs>100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Senter, Reed R</dc:creator>
  <cp:lastModifiedBy>Senter, Reed R</cp:lastModifiedBy>
  <cp:revision>7</cp:revision>
  <dcterms:created xsi:type="dcterms:W3CDTF">2026-02-02T14:18:14Z</dcterms:created>
  <dcterms:modified xsi:type="dcterms:W3CDTF">2026-02-02T15:37:44Z</dcterms:modified>
</cp:coreProperties>
</file>